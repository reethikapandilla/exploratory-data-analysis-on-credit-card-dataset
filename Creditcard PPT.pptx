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71" r:id="rId14"/>
    <p:sldId id="259" r:id="rId15"/>
  </p:sldIdLst>
  <p:sldSz cx="12192000" cy="6858000"/>
  <p:notesSz cx="6858000" cy="9144000"/>
  <p:embeddedFontLst>
    <p:embeddedFont>
      <p:font typeface="Lato Black" panose="020F0502020204030203" pitchFamily="34" charset="0"/>
      <p:bold r:id="rId17"/>
      <p:boldItalic r:id="rId18"/>
    </p:embeddedFon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8431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6916" y="2635185"/>
            <a:ext cx="11208775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dirty="0">
                <a:solidFill>
                  <a:srgbClr val="FF0000"/>
                </a:solidFill>
              </a:rPr>
              <a:t>Exploratory Data Analysis on Credit Card Dataset</a:t>
            </a:r>
          </a:p>
          <a:p>
            <a:endParaRPr lang="en-US" b="1" dirty="0"/>
          </a:p>
          <a:p>
            <a:r>
              <a:rPr lang="en-US" b="1" dirty="0"/>
              <a:t>                                                                                                                                                                                                 </a:t>
            </a:r>
            <a:r>
              <a:rPr lang="en-US" b="1" dirty="0">
                <a:latin typeface="+mn-lt"/>
              </a:rPr>
              <a:t>Name:</a:t>
            </a:r>
            <a:r>
              <a:rPr lang="en-US" dirty="0">
                <a:latin typeface="+mn-lt"/>
              </a:rPr>
              <a:t> </a:t>
            </a:r>
            <a:r>
              <a:rPr lang="en-US" i="1" dirty="0">
                <a:latin typeface="+mj-lt"/>
              </a:rPr>
              <a:t>Reethika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                                                                                                                                                                                                 </a:t>
            </a:r>
            <a:r>
              <a:rPr lang="en-US" b="1" dirty="0">
                <a:latin typeface="+mn-lt"/>
              </a:rPr>
              <a:t>Batch:</a:t>
            </a:r>
            <a:r>
              <a:rPr lang="en-US" dirty="0">
                <a:latin typeface="+mn-lt"/>
              </a:rPr>
              <a:t> </a:t>
            </a:r>
            <a:r>
              <a:rPr lang="en-US" i="1" dirty="0">
                <a:latin typeface="+mn-lt"/>
              </a:rPr>
              <a:t>467</a:t>
            </a:r>
            <a:endParaRPr lang="en-US" dirty="0">
              <a:latin typeface="+mn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491613"/>
            <a:ext cx="10515600" cy="85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sz="4000" b="1" dirty="0">
                <a:solidFill>
                  <a:srgbClr val="FF0000"/>
                </a:solidFill>
              </a:rPr>
              <a:t> </a:t>
            </a:r>
            <a:br>
              <a:rPr lang="en-IN" sz="4000" b="1" dirty="0">
                <a:solidFill>
                  <a:srgbClr val="FF0000"/>
                </a:solidFill>
              </a:rPr>
            </a:br>
            <a:r>
              <a:rPr lang="en-IN" sz="4000" b="1" dirty="0">
                <a:solidFill>
                  <a:srgbClr val="FF0000"/>
                </a:solidFill>
              </a:rPr>
              <a:t>                                 Overview of the Project</a:t>
            </a:r>
            <a:br>
              <a:rPr lang="en-IN" sz="3600" b="1" dirty="0">
                <a:solidFill>
                  <a:srgbClr val="FF0000"/>
                </a:solidFill>
              </a:rPr>
            </a:br>
            <a:br>
              <a:rPr lang="en-IN" sz="3600" b="1" dirty="0">
                <a:solidFill>
                  <a:srgbClr val="FF0000"/>
                </a:solidFill>
              </a:rPr>
            </a:br>
            <a:r>
              <a:rPr lang="en-IN" sz="3600" b="1" dirty="0">
                <a:solidFill>
                  <a:srgbClr val="FF0000"/>
                </a:solidFill>
              </a:rPr>
              <a:t>    </a:t>
            </a:r>
            <a:r>
              <a:rPr lang="en-IN" sz="3200" b="1" u="sng" dirty="0">
                <a:solidFill>
                  <a:schemeClr val="tx1"/>
                </a:solidFill>
              </a:rPr>
              <a:t>Agenda:</a:t>
            </a:r>
            <a:endParaRPr sz="3200" b="1" u="sng" dirty="0">
              <a:solidFill>
                <a:schemeClr val="tx1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334297" y="1919030"/>
            <a:ext cx="1086618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Dataset Overview</a:t>
            </a:r>
          </a:p>
          <a:p>
            <a:r>
              <a:rPr lang="en-US" dirty="0"/>
              <a:t>Data Cleaning &amp; Preparation</a:t>
            </a:r>
          </a:p>
          <a:p>
            <a:r>
              <a:rPr lang="en-US" dirty="0"/>
              <a:t>Univariate Analysis</a:t>
            </a:r>
          </a:p>
          <a:p>
            <a:r>
              <a:rPr lang="en-US" dirty="0"/>
              <a:t>Bivariate Analysis</a:t>
            </a:r>
          </a:p>
          <a:p>
            <a:r>
              <a:rPr lang="en-US" dirty="0"/>
              <a:t>Non-Visual Analysis</a:t>
            </a:r>
          </a:p>
          <a:p>
            <a:r>
              <a:rPr lang="en-US" dirty="0"/>
              <a:t>Insights &amp; Conclusion</a:t>
            </a:r>
          </a:p>
          <a:p>
            <a:pPr marL="228600" lvl="0" indent="-130810"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57084" y="1730477"/>
            <a:ext cx="1084498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Credit card data contains customer spending, payment, and credit usage information.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This project focuses on performing </a:t>
            </a:r>
            <a:r>
              <a:rPr lang="en-US" sz="2000" b="1" dirty="0"/>
              <a:t>Exploratory Data Analysis (EDA)</a:t>
            </a:r>
            <a:r>
              <a:rPr lang="en-US" sz="2000" dirty="0"/>
              <a:t> to understand customer financial behavior.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/>
              <a:t>The goal is to clean the raw data and extract </a:t>
            </a:r>
            <a:r>
              <a:rPr lang="en-US" sz="2000" b="1" dirty="0"/>
              <a:t>meaningful insights</a:t>
            </a:r>
            <a:r>
              <a:rPr lang="en-US" sz="2000" dirty="0"/>
              <a:t> using statistical and analytical techniques.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35811" y="416554"/>
            <a:ext cx="9837549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lang="en-IN" sz="36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6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Introduction</a:t>
            </a:r>
            <a:endParaRPr sz="36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7C01-F662-78AD-4172-647E935FE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  Why This Project?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23485-9005-5AA4-ACE5-867D054EB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40542"/>
            <a:ext cx="10515600" cy="50364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/>
              <a:t>Why I Chose This Dataset</a:t>
            </a:r>
          </a:p>
          <a:p>
            <a:r>
              <a:rPr lang="en-US" sz="2000" dirty="0"/>
              <a:t>Credit card analysis is a </a:t>
            </a:r>
            <a:r>
              <a:rPr lang="en-US" sz="2000" b="1" dirty="0"/>
              <a:t>real-world financial problem</a:t>
            </a:r>
            <a:endParaRPr lang="en-US" sz="2000" dirty="0"/>
          </a:p>
          <a:p>
            <a:r>
              <a:rPr lang="en-US" sz="2000" dirty="0"/>
              <a:t>Highly relevant to:</a:t>
            </a:r>
          </a:p>
          <a:p>
            <a:pPr lvl="1"/>
            <a:r>
              <a:rPr lang="en-US" sz="2000" dirty="0"/>
              <a:t>Banking sector</a:t>
            </a:r>
          </a:p>
          <a:p>
            <a:pPr lvl="1"/>
            <a:r>
              <a:rPr lang="en-US" sz="2000" dirty="0"/>
              <a:t>Financial risk analysis</a:t>
            </a:r>
          </a:p>
          <a:p>
            <a:pPr lvl="1"/>
            <a:r>
              <a:rPr lang="en-US" sz="2000" dirty="0"/>
              <a:t>Customer behavior analysis</a:t>
            </a:r>
          </a:p>
          <a:p>
            <a:r>
              <a:rPr lang="en-US" sz="2000" dirty="0"/>
              <a:t>Helps understand:</a:t>
            </a:r>
          </a:p>
          <a:p>
            <a:pPr lvl="1"/>
            <a:r>
              <a:rPr lang="en-US" sz="2000" dirty="0"/>
              <a:t>Spending patterns</a:t>
            </a:r>
          </a:p>
          <a:p>
            <a:pPr lvl="1"/>
            <a:r>
              <a:rPr lang="en-US" sz="2000" dirty="0"/>
              <a:t>Payment behavior</a:t>
            </a:r>
          </a:p>
          <a:p>
            <a:pPr lvl="1"/>
            <a:r>
              <a:rPr lang="en-US" sz="2000" dirty="0"/>
              <a:t>Credit utilization</a:t>
            </a:r>
          </a:p>
          <a:p>
            <a:r>
              <a:rPr lang="en-US" sz="2000" dirty="0"/>
              <a:t>Strengthens </a:t>
            </a:r>
            <a:r>
              <a:rPr lang="en-US" sz="2000" b="1" dirty="0"/>
              <a:t>EDA and data cleaning skills</a:t>
            </a:r>
            <a:r>
              <a:rPr lang="en-US" sz="2000" dirty="0"/>
              <a:t>, important for interviews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51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A7B3-FF31-6FD7-F8CB-206505E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5"/>
            <a:ext cx="10515600" cy="535857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</a:t>
            </a:r>
            <a:r>
              <a:rPr lang="en-IN" sz="4000" b="1" dirty="0">
                <a:solidFill>
                  <a:srgbClr val="FF0000"/>
                </a:solidFill>
              </a:rPr>
              <a:t>Understanding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5FABC-2DE3-D21E-39D6-CF03583A6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19432"/>
            <a:ext cx="11127658" cy="6154993"/>
          </a:xfrm>
        </p:spPr>
        <p:txBody>
          <a:bodyPr>
            <a:normAutofit fontScale="47500" lnSpcReduction="20000"/>
          </a:bodyPr>
          <a:lstStyle/>
          <a:p>
            <a:pPr marL="114300" indent="0">
              <a:buNone/>
            </a:pPr>
            <a:r>
              <a:rPr lang="en-IN" sz="3300" b="1" dirty="0">
                <a:solidFill>
                  <a:srgbClr val="FF0000"/>
                </a:solidFill>
              </a:rPr>
              <a:t>Dataset Details</a:t>
            </a:r>
          </a:p>
          <a:p>
            <a:r>
              <a:rPr lang="en-IN" sz="3300" dirty="0"/>
              <a:t>Dataset Type: Credit Card Default Data</a:t>
            </a:r>
          </a:p>
          <a:p>
            <a:r>
              <a:rPr lang="en-IN" sz="3300" b="1" dirty="0"/>
              <a:t>Records: ~150,000 rows</a:t>
            </a:r>
            <a:endParaRPr lang="en-IN" sz="3300" dirty="0"/>
          </a:p>
          <a:p>
            <a:r>
              <a:rPr lang="en-IN" sz="3300" b="1" dirty="0"/>
              <a:t>Features: 18 columns</a:t>
            </a:r>
            <a:endParaRPr lang="en-IN" sz="3300" dirty="0"/>
          </a:p>
          <a:p>
            <a:r>
              <a:rPr lang="en-IN" sz="3300" dirty="0"/>
              <a:t>Data Types: Numerical &amp; Categorical</a:t>
            </a:r>
          </a:p>
          <a:p>
            <a:pPr marL="114300" indent="0">
              <a:buNone/>
            </a:pPr>
            <a:endParaRPr lang="en-US" sz="3300" b="1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en-US" sz="3300" b="1" dirty="0">
                <a:solidFill>
                  <a:srgbClr val="FF0000"/>
                </a:solidFill>
              </a:rPr>
              <a:t>Key Columns</a:t>
            </a:r>
          </a:p>
          <a:p>
            <a:r>
              <a:rPr lang="en-US" sz="3300" b="1" dirty="0"/>
              <a:t>NPA Status</a:t>
            </a:r>
            <a:r>
              <a:rPr lang="en-US" sz="3300" dirty="0"/>
              <a:t> – Non-performing asset indicator</a:t>
            </a:r>
          </a:p>
          <a:p>
            <a:r>
              <a:rPr lang="en-US" sz="3300" b="1" dirty="0" err="1"/>
              <a:t>RevolvingUtilizationOfUnsecuredLines</a:t>
            </a:r>
            <a:r>
              <a:rPr lang="en-US" sz="3300" dirty="0"/>
              <a:t> – Credit usage ratio</a:t>
            </a:r>
          </a:p>
          <a:p>
            <a:r>
              <a:rPr lang="en-US" sz="3300" b="1" dirty="0"/>
              <a:t>Age</a:t>
            </a:r>
            <a:r>
              <a:rPr lang="en-US" sz="3300" dirty="0"/>
              <a:t> – Customer age</a:t>
            </a:r>
          </a:p>
          <a:p>
            <a:r>
              <a:rPr lang="en-US" sz="3300" b="1" dirty="0" err="1"/>
              <a:t>MonthlyIncome</a:t>
            </a:r>
            <a:r>
              <a:rPr lang="en-US" sz="3300" dirty="0"/>
              <a:t> – Customer income</a:t>
            </a:r>
          </a:p>
          <a:p>
            <a:r>
              <a:rPr lang="en-US" sz="3300" b="1" dirty="0" err="1"/>
              <a:t>DebtRatio</a:t>
            </a:r>
            <a:r>
              <a:rPr lang="en-US" sz="3300" dirty="0"/>
              <a:t> – Debt to income ratio</a:t>
            </a:r>
          </a:p>
          <a:p>
            <a:r>
              <a:rPr lang="en-US" sz="3300" b="1" dirty="0"/>
              <a:t>Late Payment Variables</a:t>
            </a:r>
            <a:r>
              <a:rPr lang="en-US" sz="3300" dirty="0"/>
              <a:t> – 30–59, 60–89, 90 days past due</a:t>
            </a:r>
          </a:p>
          <a:p>
            <a:r>
              <a:rPr lang="en-US" sz="3300" b="1" dirty="0" err="1"/>
              <a:t>Good_Bad</a:t>
            </a:r>
            <a:r>
              <a:rPr lang="en-US" sz="3300" dirty="0"/>
              <a:t> – Customer classification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sz="3800" b="1" dirty="0">
                <a:solidFill>
                  <a:srgbClr val="FF0000"/>
                </a:solidFill>
              </a:rPr>
              <a:t>Initial Observations</a:t>
            </a:r>
          </a:p>
          <a:p>
            <a:r>
              <a:rPr lang="en-US" sz="3800" dirty="0"/>
              <a:t>Missing values present in income-related columns</a:t>
            </a:r>
          </a:p>
          <a:p>
            <a:r>
              <a:rPr lang="en-US" sz="3800" dirty="0"/>
              <a:t>Mixed data types (numerical &amp; categorical)</a:t>
            </a:r>
          </a:p>
          <a:p>
            <a:r>
              <a:rPr lang="en-US" sz="3800" dirty="0"/>
              <a:t>Presence of extreme values (outliers)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704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F7BF-4C4E-0083-1588-1C50A4D5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Data Cleaning &amp;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5D065-AE35-2D9F-9D18-A98B314E4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787" y="1032388"/>
            <a:ext cx="11267767" cy="568304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0000"/>
                </a:solidFill>
              </a:rPr>
              <a:t>Libraries Used:</a:t>
            </a:r>
          </a:p>
          <a:p>
            <a:r>
              <a:rPr lang="en-US" sz="1800" b="1" dirty="0"/>
              <a:t>Pandas</a:t>
            </a:r>
            <a:r>
              <a:rPr lang="en-US" sz="1800" dirty="0"/>
              <a:t> – Data loading and manipulation</a:t>
            </a:r>
          </a:p>
          <a:p>
            <a:r>
              <a:rPr lang="en-US" sz="1800" b="1" dirty="0"/>
              <a:t>NumPy</a:t>
            </a:r>
            <a:r>
              <a:rPr lang="en-US" sz="1800" dirty="0"/>
              <a:t> – Numerical operations</a:t>
            </a:r>
          </a:p>
          <a:p>
            <a:r>
              <a:rPr lang="en-US" sz="1800" b="1" dirty="0"/>
              <a:t>Matplotlib</a:t>
            </a:r>
            <a:r>
              <a:rPr lang="en-US" sz="1800" dirty="0"/>
              <a:t> – Data visualization</a:t>
            </a:r>
          </a:p>
          <a:p>
            <a:r>
              <a:rPr lang="en-US" sz="1800" b="1" dirty="0"/>
              <a:t>Seaborn</a:t>
            </a:r>
            <a:r>
              <a:rPr lang="en-US" sz="1800" dirty="0"/>
              <a:t> – Statistical plots</a:t>
            </a:r>
          </a:p>
          <a:p>
            <a:r>
              <a:rPr lang="en-US" sz="1800" dirty="0"/>
              <a:t>Checked dataset shape and 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0000"/>
                </a:solidFill>
              </a:rPr>
              <a:t>Null Values Checking</a:t>
            </a:r>
          </a:p>
          <a:p>
            <a:r>
              <a:rPr lang="en-US" sz="1800" dirty="0"/>
              <a:t>Missing values were identified in columns such as </a:t>
            </a:r>
            <a:r>
              <a:rPr lang="en-US" sz="1800" b="1" dirty="0" err="1"/>
              <a:t>MonthlyIncome</a:t>
            </a:r>
            <a:r>
              <a:rPr lang="en-US" sz="1800" dirty="0"/>
              <a:t> </a:t>
            </a:r>
          </a:p>
          <a:p>
            <a:pPr marL="114300" indent="0">
              <a:buNone/>
            </a:pPr>
            <a:r>
              <a:rPr lang="en-US" sz="1800" dirty="0"/>
              <a:t>    and </a:t>
            </a:r>
            <a:r>
              <a:rPr lang="en-US" sz="1800" b="1" dirty="0" err="1"/>
              <a:t>NumberOfDependents</a:t>
            </a:r>
            <a:r>
              <a:rPr lang="en-US" sz="1800" dirty="0"/>
              <a:t>. These null values were handled to maintain </a:t>
            </a:r>
          </a:p>
          <a:p>
            <a:pPr marL="114300" indent="0">
              <a:buNone/>
            </a:pPr>
            <a:r>
              <a:rPr lang="en-US" sz="1800" dirty="0"/>
              <a:t>     consistency and reduce bias in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0000"/>
                </a:solidFill>
              </a:rPr>
              <a:t>Duplicate Values Checking</a:t>
            </a:r>
          </a:p>
          <a:p>
            <a:r>
              <a:rPr lang="en-US" sz="1800" dirty="0"/>
              <a:t>Duplicate records were checked across the dataset.</a:t>
            </a:r>
            <a:br>
              <a:rPr lang="en-US" sz="1800" dirty="0"/>
            </a:br>
            <a:r>
              <a:rPr lang="en-US" sz="1800" dirty="0"/>
              <a:t>No major duplicate rows were found, ensuring each customer record is unique.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0000"/>
                </a:solidFill>
              </a:rPr>
              <a:t>Data Type Verification</a:t>
            </a:r>
          </a:p>
          <a:p>
            <a:r>
              <a:rPr lang="en-US" sz="1800" dirty="0"/>
              <a:t>Numerical and categorical columns were verified and corrected where required.</a:t>
            </a:r>
            <a:br>
              <a:rPr lang="en-US" sz="1800" dirty="0"/>
            </a:br>
            <a:r>
              <a:rPr lang="en-US" sz="1800" dirty="0"/>
              <a:t>This ensured accurate calculations and proper visualizations during analysis.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D112A-D772-681B-DAB7-F000A6634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652" y="3630858"/>
            <a:ext cx="3324280" cy="30845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9033FF-7C1C-482F-AEDF-145AA3701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652" y="281255"/>
            <a:ext cx="3324280" cy="326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9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1676-5B3C-FB3A-7FEC-8C0769E6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     </a:t>
            </a:r>
            <a:r>
              <a:rPr lang="en-IN" sz="4000" b="1" dirty="0">
                <a:solidFill>
                  <a:srgbClr val="FF0000"/>
                </a:solidFill>
              </a:rPr>
              <a:t>Univariate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2BBED-6E65-DA2B-AC7F-36FA59465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42260"/>
            <a:ext cx="10515600" cy="533470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Analysis of a single variable to understand its distribution and characteristics.</a:t>
            </a:r>
            <a:endParaRPr lang="en-US" sz="18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0000"/>
                </a:solidFill>
              </a:rPr>
              <a:t>Plots Used</a:t>
            </a:r>
          </a:p>
          <a:p>
            <a:r>
              <a:rPr lang="en-US" sz="1800" dirty="0"/>
              <a:t>Pie Chart – for categorical variable distribution</a:t>
            </a:r>
          </a:p>
          <a:p>
            <a:r>
              <a:rPr lang="en-US" sz="1800" dirty="0"/>
              <a:t>Box Plot – for numerical variable analysis</a:t>
            </a:r>
          </a:p>
          <a:p>
            <a:r>
              <a:rPr lang="en-US" sz="1800" dirty="0"/>
              <a:t>Count Plot – frequency of categorical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7AA58-4528-37D6-8A3F-D6CA8DE64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" y="2915603"/>
            <a:ext cx="3475233" cy="326136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FA6CE5C-503A-FFDA-E201-FB9D3A8C7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109" y="3147110"/>
            <a:ext cx="3475233" cy="2952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E710A41-DBEA-465F-7305-B50C76FA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0135" y="2992773"/>
            <a:ext cx="3823529" cy="310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556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0EAF74-3DE4-5011-7134-D289A8CB4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55600"/>
            <a:ext cx="10515600" cy="5821363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3900" b="1" dirty="0">
                <a:solidFill>
                  <a:srgbClr val="FF0000"/>
                </a:solidFill>
              </a:rPr>
              <a:t>Key Observations:</a:t>
            </a:r>
          </a:p>
          <a:p>
            <a:pPr marL="114300" indent="0">
              <a:buNone/>
            </a:pPr>
            <a:endParaRPr lang="en-US" sz="22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</a:rPr>
              <a:t>Box Plot (Monthly Income)</a:t>
            </a:r>
          </a:p>
          <a:p>
            <a:r>
              <a:rPr lang="en-US" sz="2200" dirty="0"/>
              <a:t>Monthly income shows the presence of </a:t>
            </a:r>
            <a:r>
              <a:rPr lang="en-US" sz="2200" b="1" dirty="0"/>
              <a:t>several outliers</a:t>
            </a:r>
            <a:r>
              <a:rPr lang="en-US" sz="2200" dirty="0"/>
              <a:t> on the higher end</a:t>
            </a:r>
          </a:p>
          <a:p>
            <a:r>
              <a:rPr lang="en-US" sz="2200" dirty="0"/>
              <a:t>The distribution is </a:t>
            </a:r>
            <a:r>
              <a:rPr lang="en-US" sz="2200" b="1" dirty="0"/>
              <a:t>right-skewed</a:t>
            </a:r>
            <a:r>
              <a:rPr lang="en-US" sz="2200" dirty="0"/>
              <a:t>, indicating few high-income customers</a:t>
            </a:r>
          </a:p>
          <a:p>
            <a:pPr marL="114300" indent="0">
              <a:buNone/>
            </a:pPr>
            <a:endParaRPr lang="en-US" sz="2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</a:rPr>
              <a:t>Count Plot (Education Level Distribution)</a:t>
            </a:r>
          </a:p>
          <a:p>
            <a:r>
              <a:rPr lang="en-US" sz="2200" b="1" dirty="0"/>
              <a:t>Professional and Graduate</a:t>
            </a:r>
            <a:r>
              <a:rPr lang="en-US" sz="2200" dirty="0"/>
              <a:t> categories have the highest number of customer.</a:t>
            </a:r>
          </a:p>
          <a:p>
            <a:r>
              <a:rPr lang="en-US" sz="2200" dirty="0"/>
              <a:t>Education levels are </a:t>
            </a:r>
            <a:r>
              <a:rPr lang="en-US" sz="2200" b="1" dirty="0"/>
              <a:t>unevenly distributed</a:t>
            </a:r>
            <a:r>
              <a:rPr lang="en-US" sz="2200" dirty="0"/>
              <a:t> across the dataset</a:t>
            </a:r>
          </a:p>
          <a:p>
            <a:pPr marL="114300" indent="0">
              <a:buNone/>
            </a:pPr>
            <a:endParaRPr lang="en-US" sz="2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</a:rPr>
              <a:t>Pie Chart (Gender Distribution)</a:t>
            </a:r>
          </a:p>
          <a:p>
            <a:r>
              <a:rPr lang="en-US" sz="2200" dirty="0"/>
              <a:t>Male customers constitute a </a:t>
            </a:r>
            <a:r>
              <a:rPr lang="en-US" sz="2200" b="1" dirty="0"/>
              <a:t>larger proportion (≈61.5%)</a:t>
            </a:r>
            <a:endParaRPr lang="en-US" sz="2200" dirty="0"/>
          </a:p>
          <a:p>
            <a:r>
              <a:rPr lang="en-US" sz="2200" dirty="0"/>
              <a:t>Female customers account for </a:t>
            </a:r>
            <a:r>
              <a:rPr lang="en-US" sz="2200" b="1" dirty="0"/>
              <a:t>≈38.5%</a:t>
            </a:r>
            <a:endParaRPr lang="en-US" sz="2200" dirty="0"/>
          </a:p>
          <a:p>
            <a:r>
              <a:rPr lang="en-US" sz="2200" dirty="0"/>
              <a:t>The dataset shows a </a:t>
            </a:r>
            <a:r>
              <a:rPr lang="en-US" sz="2200" b="1" dirty="0"/>
              <a:t>gender imbalance</a:t>
            </a:r>
            <a:endParaRPr lang="en-US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025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28FE-C620-1A0D-3AC8-8A4A5645F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151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 Bivariate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2F8E2-B9BC-E3B7-0AE5-C45C97296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6640"/>
            <a:ext cx="10515600" cy="5120323"/>
          </a:xfrm>
        </p:spPr>
        <p:txBody>
          <a:bodyPr/>
          <a:lstStyle/>
          <a:p>
            <a:r>
              <a:rPr lang="en-US" sz="2000" dirty="0"/>
              <a:t>Analysis of the relationship between two variables to identify patterns or associations.</a:t>
            </a:r>
            <a:endParaRPr lang="en-US" sz="20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Plots Used</a:t>
            </a:r>
          </a:p>
          <a:p>
            <a:r>
              <a:rPr lang="en-US" sz="2000" dirty="0"/>
              <a:t>Count Plot – Categorical vs Categorical</a:t>
            </a:r>
          </a:p>
          <a:p>
            <a:r>
              <a:rPr lang="en-US" sz="2000" dirty="0"/>
              <a:t>Violin Plot – Categorical vs Numerical</a:t>
            </a:r>
          </a:p>
          <a:p>
            <a:r>
              <a:rPr lang="en-US" sz="2000" dirty="0"/>
              <a:t>Scatter Plot – Numerical vs Numerical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5D40C-5235-5E20-564C-87D3B36AC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3616801"/>
            <a:ext cx="4026419" cy="2735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AC43DE-5226-A01A-EBB2-8A99E65BD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819" y="3616801"/>
            <a:ext cx="4026420" cy="2735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0D97FC-E662-F9EC-88BC-13562E5AB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4999" y="3529092"/>
            <a:ext cx="3467601" cy="273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58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D0BFAA-005E-C1B1-7423-02DA9DB48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360" y="334963"/>
            <a:ext cx="10886440" cy="5842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3600" b="1" dirty="0">
                <a:solidFill>
                  <a:srgbClr val="FF0000"/>
                </a:solidFill>
              </a:rPr>
              <a:t>Key Observations:</a:t>
            </a:r>
            <a:endParaRPr lang="en-US" sz="3600" b="1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en-US" sz="2000" b="1" dirty="0"/>
              <a:t>Categorical vs Categorical (Gender vs House Type)</a:t>
            </a:r>
          </a:p>
          <a:p>
            <a:r>
              <a:rPr lang="en-US" sz="2000" dirty="0"/>
              <a:t>Male customers are more in number compared to female customers in both own-house and rented categories</a:t>
            </a:r>
          </a:p>
          <a:p>
            <a:r>
              <a:rPr lang="en-US" sz="2000" dirty="0"/>
              <a:t>Customers living in their own house are more than rented house customers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b="1" dirty="0"/>
              <a:t>Categorical vs Numerical (Age vs NPA Status)</a:t>
            </a:r>
          </a:p>
          <a:p>
            <a:r>
              <a:rPr lang="en-US" sz="2000" dirty="0"/>
              <a:t>Customers with </a:t>
            </a:r>
            <a:r>
              <a:rPr lang="en-US" sz="2000" b="1" dirty="0"/>
              <a:t>non-NPA status</a:t>
            </a:r>
            <a:r>
              <a:rPr lang="en-US" sz="2000" dirty="0"/>
              <a:t> are mostly concentrated in the middle-age group</a:t>
            </a:r>
          </a:p>
          <a:p>
            <a:r>
              <a:rPr lang="en-US" sz="2000" dirty="0"/>
              <a:t>Age alone does not strongly determine NPA status but shows visible variation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2000" b="1" dirty="0"/>
              <a:t>Numerical vs Numerical (Revolving Utilization vs Open Credit Lines)</a:t>
            </a:r>
          </a:p>
          <a:p>
            <a:r>
              <a:rPr lang="en-US" sz="2000" dirty="0"/>
              <a:t>Higher revolving utilization is mostly associated with fewer open credit lines</a:t>
            </a:r>
          </a:p>
          <a:p>
            <a:r>
              <a:rPr lang="en-US" sz="2000" dirty="0"/>
              <a:t>Customers with NPA status show higher utilization at lower credit line counts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459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DA3A-C59E-9DD9-6F13-C965D3D8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15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                                Multivariate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41B0A-8012-D037-B5F2-2FB3C9E19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040" y="1107440"/>
            <a:ext cx="10906760" cy="5069523"/>
          </a:xfrm>
        </p:spPr>
        <p:txBody>
          <a:bodyPr/>
          <a:lstStyle/>
          <a:p>
            <a:r>
              <a:rPr lang="en-US" sz="2000" b="1" dirty="0"/>
              <a:t>Multivariate analysis</a:t>
            </a:r>
            <a:r>
              <a:rPr lang="en-US" sz="2000" dirty="0"/>
              <a:t> involves </a:t>
            </a:r>
            <a:r>
              <a:rPr lang="en-US" sz="2000" b="1" dirty="0"/>
              <a:t>three or more variables</a:t>
            </a:r>
            <a:r>
              <a:rPr lang="en-US" sz="2000" dirty="0"/>
              <a:t> analyzed together to understand complex interactions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Graphs Used</a:t>
            </a:r>
          </a:p>
          <a:p>
            <a:r>
              <a:rPr lang="en-US" sz="2000" dirty="0"/>
              <a:t>Correlation Heatmap</a:t>
            </a:r>
          </a:p>
          <a:p>
            <a:r>
              <a:rPr lang="en-US" sz="2000" dirty="0"/>
              <a:t>Violin Plot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657A64-87C5-A258-CA82-F5453ED42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3322321"/>
            <a:ext cx="5560060" cy="3343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F6DAD5-DB4B-89D3-FB9F-0AE510AF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3037522"/>
            <a:ext cx="5191760" cy="327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46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D4663-7DC6-2EF0-D21C-7902D6994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35280"/>
            <a:ext cx="10515600" cy="58416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</a:rPr>
              <a:t>Correlation Heatmap</a:t>
            </a:r>
          </a:p>
          <a:p>
            <a:r>
              <a:rPr lang="en-US" sz="2200" dirty="0"/>
              <a:t>Age shows very weak correlation with </a:t>
            </a:r>
            <a:r>
              <a:rPr lang="en-US" sz="2200" dirty="0" err="1"/>
              <a:t>MonthlyIncome</a:t>
            </a:r>
            <a:r>
              <a:rPr lang="en-US" sz="2200" dirty="0"/>
              <a:t> and </a:t>
            </a:r>
            <a:r>
              <a:rPr lang="en-US" sz="2200" dirty="0" err="1"/>
              <a:t>DebtRatio</a:t>
            </a:r>
            <a:endParaRPr lang="en-US" sz="2200" dirty="0"/>
          </a:p>
          <a:p>
            <a:r>
              <a:rPr lang="en-US" sz="2200" dirty="0" err="1"/>
              <a:t>DebtRatio</a:t>
            </a:r>
            <a:r>
              <a:rPr lang="en-US" sz="2200" dirty="0"/>
              <a:t> has weak correlation with </a:t>
            </a:r>
            <a:r>
              <a:rPr lang="en-US" sz="2200" dirty="0" err="1"/>
              <a:t>MonthlyIncome</a:t>
            </a:r>
            <a:endParaRPr lang="en-US" sz="2200" dirty="0"/>
          </a:p>
          <a:p>
            <a:r>
              <a:rPr lang="en-US" sz="2200" dirty="0" err="1"/>
              <a:t>NumberOfDependents</a:t>
            </a:r>
            <a:r>
              <a:rPr lang="en-US" sz="2200" dirty="0"/>
              <a:t> shows a negative correlation with Age</a:t>
            </a:r>
          </a:p>
          <a:p>
            <a:r>
              <a:rPr lang="en-US" sz="2200" dirty="0"/>
              <a:t>Overall, no strong linear relationship exists among these variables, indicating complex interactions</a:t>
            </a:r>
          </a:p>
          <a:p>
            <a:endParaRPr lang="en-US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</a:rPr>
              <a:t>Violin Plot </a:t>
            </a:r>
          </a:p>
          <a:p>
            <a:r>
              <a:rPr lang="en-US" sz="2200" dirty="0"/>
              <a:t>Bad customers show </a:t>
            </a:r>
            <a:r>
              <a:rPr lang="en-US" sz="2200" b="1" dirty="0"/>
              <a:t>higher and more spread-out </a:t>
            </a:r>
            <a:r>
              <a:rPr lang="en-US" sz="2200" b="1" dirty="0" err="1"/>
              <a:t>DebtRatio</a:t>
            </a:r>
            <a:r>
              <a:rPr lang="en-US" sz="2200" b="1" dirty="0"/>
              <a:t> values</a:t>
            </a:r>
            <a:r>
              <a:rPr lang="en-US" sz="2200" dirty="0"/>
              <a:t> compared to good customers</a:t>
            </a:r>
          </a:p>
          <a:p>
            <a:r>
              <a:rPr lang="en-US" sz="2200" dirty="0"/>
              <a:t>As number of dependents increases, </a:t>
            </a:r>
            <a:r>
              <a:rPr lang="en-US" sz="2200" dirty="0" err="1"/>
              <a:t>DebtRatio</a:t>
            </a:r>
            <a:r>
              <a:rPr lang="en-US" sz="2200" dirty="0"/>
              <a:t> distribution becomes more concentrated</a:t>
            </a:r>
          </a:p>
          <a:p>
            <a:r>
              <a:rPr lang="en-US" sz="2200" dirty="0"/>
              <a:t>Clear difference in distribution is observed between good and bad customers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185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4C1D-BE0C-4E04-B45E-CB20B35C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9755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DDC4D-F1B0-F865-8491-102ED0A45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44880"/>
            <a:ext cx="10515600" cy="5232083"/>
          </a:xfrm>
        </p:spPr>
        <p:txBody>
          <a:bodyPr>
            <a:normAutofit/>
          </a:bodyPr>
          <a:lstStyle/>
          <a:p>
            <a:r>
              <a:rPr lang="en-US" sz="2000" dirty="0"/>
              <a:t>Most customers are </a:t>
            </a:r>
            <a:r>
              <a:rPr lang="en-US" sz="2000" b="1" dirty="0"/>
              <a:t>good customers (non-NPA)</a:t>
            </a:r>
            <a:endParaRPr lang="en-US" sz="2000" dirty="0"/>
          </a:p>
          <a:p>
            <a:r>
              <a:rPr lang="en-US" sz="2000" dirty="0"/>
              <a:t>Some customers have </a:t>
            </a:r>
            <a:r>
              <a:rPr lang="en-US" sz="2000" b="1" dirty="0"/>
              <a:t>very high debt compared to their income.</a:t>
            </a:r>
            <a:endParaRPr lang="en-US" sz="2000" dirty="0"/>
          </a:p>
          <a:p>
            <a:r>
              <a:rPr lang="en-US" sz="2000" dirty="0"/>
              <a:t>Customers who </a:t>
            </a:r>
            <a:r>
              <a:rPr lang="en-US" sz="2000" b="1" dirty="0"/>
              <a:t>delay payments often</a:t>
            </a:r>
            <a:r>
              <a:rPr lang="en-US" sz="2000" dirty="0"/>
              <a:t> are more likely to become NPA.</a:t>
            </a:r>
          </a:p>
          <a:p>
            <a:r>
              <a:rPr lang="en-US" sz="2000" dirty="0"/>
              <a:t>Income alone does not decide risk; </a:t>
            </a:r>
            <a:r>
              <a:rPr lang="en-US" sz="2000" b="1" dirty="0"/>
              <a:t>spending and payment behavior matter more.</a:t>
            </a:r>
            <a:endParaRPr lang="en-US" sz="2000" dirty="0"/>
          </a:p>
          <a:p>
            <a:r>
              <a:rPr lang="en-US" sz="2000" dirty="0"/>
              <a:t>Credit risk depends on </a:t>
            </a:r>
            <a:r>
              <a:rPr lang="en-US" sz="2000" b="1" dirty="0"/>
              <a:t>multiple factors together</a:t>
            </a:r>
            <a:r>
              <a:rPr lang="en-US" sz="2000" dirty="0"/>
              <a:t>, not just one.</a:t>
            </a:r>
          </a:p>
          <a:p>
            <a:pPr marL="114300" indent="0">
              <a:buNone/>
            </a:pPr>
            <a:endParaRPr lang="en-US" sz="2000" dirty="0"/>
          </a:p>
          <a:p>
            <a:pPr marL="11430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Conclusion</a:t>
            </a:r>
          </a:p>
          <a:p>
            <a:r>
              <a:rPr lang="en-US" sz="2000" dirty="0"/>
              <a:t>This project performed Exploratory Data Analysis on a credit card dataset to understand customer behavior and credit risk.</a:t>
            </a:r>
          </a:p>
          <a:p>
            <a:r>
              <a:rPr lang="en-US" sz="2000" dirty="0"/>
              <a:t>After cleaning the data, univariate, bivariate, and multivariate analyses were carried out to identify important patterns.</a:t>
            </a:r>
          </a:p>
          <a:p>
            <a:r>
              <a:rPr lang="en-US" sz="2000" dirty="0"/>
              <a:t>The analysis shows that </a:t>
            </a:r>
            <a:r>
              <a:rPr lang="en-US" sz="2000" b="1" dirty="0"/>
              <a:t>debt ratio, credit utilization, and late payment behavior</a:t>
            </a:r>
            <a:r>
              <a:rPr lang="en-US" sz="2000" dirty="0"/>
              <a:t> play a major role in determining customer risk, while income alone is not a strong indicator.</a:t>
            </a:r>
            <a:endParaRPr lang="en-IN" sz="2000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853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852</Words>
  <Application>Microsoft Office PowerPoint</Application>
  <PresentationFormat>Widescreen</PresentationFormat>
  <Paragraphs>130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Lato Black</vt:lpstr>
      <vt:lpstr>Libre Baskerville</vt:lpstr>
      <vt:lpstr>Calibri</vt:lpstr>
      <vt:lpstr>Arial</vt:lpstr>
      <vt:lpstr>Wingdings</vt:lpstr>
      <vt:lpstr>Office Theme</vt:lpstr>
      <vt:lpstr>PowerPoint Presentation</vt:lpstr>
      <vt:lpstr>                                   Overview of the Project      Agenda:</vt:lpstr>
      <vt:lpstr>PowerPoint Presentation</vt:lpstr>
      <vt:lpstr>                                  Why This Project?</vt:lpstr>
      <vt:lpstr>                                Understanding the Dataset</vt:lpstr>
      <vt:lpstr>Data Cleaning &amp; Preparation</vt:lpstr>
      <vt:lpstr>                                     Univariate Analysis</vt:lpstr>
      <vt:lpstr>PowerPoint Presentation</vt:lpstr>
      <vt:lpstr>                                 Bivariate Analysis</vt:lpstr>
      <vt:lpstr>PowerPoint Presentation</vt:lpstr>
      <vt:lpstr>                                Multivariate Analysis</vt:lpstr>
      <vt:lpstr>PowerPoint Presentation</vt:lpstr>
      <vt:lpstr>Insights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Reethika pandilla</cp:lastModifiedBy>
  <cp:revision>2</cp:revision>
  <dcterms:created xsi:type="dcterms:W3CDTF">2021-02-16T05:19:01Z</dcterms:created>
  <dcterms:modified xsi:type="dcterms:W3CDTF">2026-01-09T13:55:23Z</dcterms:modified>
</cp:coreProperties>
</file>